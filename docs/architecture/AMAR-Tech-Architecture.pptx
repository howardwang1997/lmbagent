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mar-tech-arch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mar-tech-arch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381000"/>
            <a:ext cx="11430000" cy="6096000"/>
            <a:chOff x="381000" y="381000"/>
            <a:chExt cx="11430000" cy="6096000"/>
          </a:xfrm>
        </p:grpSpPr>
        <p:sp>
          <p:nvSpPr>
            <p:cNvPr id="2" name="Freeform 2"/>
            <p:cNvSpPr/>
            <p:nvPr/>
          </p:nvSpPr>
          <p:spPr>
            <a:xfrm>
              <a:off x="381000" y="381000"/>
              <a:ext cx="11430000" cy="6096000"/>
            </a:xfrm>
            <a:custGeom>
              <a:avLst/>
              <a:gdLst/>
              <a:ahLst/>
              <a:cxnLst/>
              <a:rect l="l" t="t" r="r" b="b"/>
              <a:pathLst>
                <a:path w="11430000" h="6096000">
                  <a:moveTo>
                    <a:pt x="0" y="0"/>
                  </a:moveTo>
                  <a:lnTo>
                    <a:pt x="11430000" y="0"/>
                  </a:lnTo>
                  <a:moveTo>
                    <a:pt x="0" y="381000"/>
                  </a:moveTo>
                  <a:lnTo>
                    <a:pt x="11430000" y="381000"/>
                  </a:lnTo>
                  <a:moveTo>
                    <a:pt x="0" y="762000"/>
                  </a:moveTo>
                  <a:lnTo>
                    <a:pt x="11430000" y="762000"/>
                  </a:lnTo>
                  <a:moveTo>
                    <a:pt x="0" y="1143000"/>
                  </a:moveTo>
                  <a:lnTo>
                    <a:pt x="11430000" y="1143000"/>
                  </a:lnTo>
                  <a:moveTo>
                    <a:pt x="0" y="1524000"/>
                  </a:moveTo>
                  <a:lnTo>
                    <a:pt x="11430000" y="1524000"/>
                  </a:lnTo>
                  <a:moveTo>
                    <a:pt x="0" y="1905000"/>
                  </a:moveTo>
                  <a:lnTo>
                    <a:pt x="11430000" y="1905000"/>
                  </a:lnTo>
                  <a:moveTo>
                    <a:pt x="0" y="2286000"/>
                  </a:moveTo>
                  <a:lnTo>
                    <a:pt x="11430000" y="2286000"/>
                  </a:lnTo>
                  <a:moveTo>
                    <a:pt x="0" y="2667000"/>
                  </a:moveTo>
                  <a:lnTo>
                    <a:pt x="11430000" y="2667000"/>
                  </a:lnTo>
                  <a:moveTo>
                    <a:pt x="0" y="3048000"/>
                  </a:moveTo>
                  <a:lnTo>
                    <a:pt x="11430000" y="3048000"/>
                  </a:lnTo>
                  <a:moveTo>
                    <a:pt x="0" y="3429000"/>
                  </a:moveTo>
                  <a:lnTo>
                    <a:pt x="11430000" y="3429000"/>
                  </a:lnTo>
                  <a:moveTo>
                    <a:pt x="0" y="3810000"/>
                  </a:moveTo>
                  <a:lnTo>
                    <a:pt x="11430000" y="3810000"/>
                  </a:lnTo>
                  <a:moveTo>
                    <a:pt x="0" y="4191000"/>
                  </a:moveTo>
                  <a:lnTo>
                    <a:pt x="11430000" y="4191000"/>
                  </a:lnTo>
                  <a:moveTo>
                    <a:pt x="0" y="4572000"/>
                  </a:moveTo>
                  <a:lnTo>
                    <a:pt x="11430000" y="4572000"/>
                  </a:lnTo>
                  <a:moveTo>
                    <a:pt x="0" y="4953000"/>
                  </a:moveTo>
                  <a:lnTo>
                    <a:pt x="11430000" y="4953000"/>
                  </a:lnTo>
                  <a:moveTo>
                    <a:pt x="0" y="5334000"/>
                  </a:moveTo>
                  <a:lnTo>
                    <a:pt x="11430000" y="5334000"/>
                  </a:lnTo>
                  <a:moveTo>
                    <a:pt x="0" y="5715000"/>
                  </a:moveTo>
                  <a:lnTo>
                    <a:pt x="11430000" y="5715000"/>
                  </a:lnTo>
                  <a:moveTo>
                    <a:pt x="0" y="6096000"/>
                  </a:moveTo>
                  <a:lnTo>
                    <a:pt x="11430000" y="6096000"/>
                  </a:lnTo>
                </a:path>
              </a:pathLst>
            </a:custGeom>
            <a:noFill/>
            <a:ln w="5715">
              <a:solidFill>
                <a:srgbClr val="5BA3C9">
                  <a:alpha val="18000"/>
                </a:srgbClr>
              </a:solidFill>
            </a:ln>
          </p:spPr>
        </p:sp>
        <p:sp>
          <p:nvSpPr>
            <p:cNvPr id="3" name="Freeform 3"/>
            <p:cNvSpPr/>
            <p:nvPr/>
          </p:nvSpPr>
          <p:spPr>
            <a:xfrm>
              <a:off x="381000" y="381000"/>
              <a:ext cx="11430000" cy="6096000"/>
            </a:xfrm>
            <a:custGeom>
              <a:avLst/>
              <a:gdLst/>
              <a:ahLst/>
              <a:cxnLst/>
              <a:rect l="l" t="t" r="r" b="b"/>
              <a:pathLst>
                <a:path w="11430000" h="6096000">
                  <a:moveTo>
                    <a:pt x="0" y="0"/>
                  </a:moveTo>
                  <a:lnTo>
                    <a:pt x="0" y="6096000"/>
                  </a:lnTo>
                  <a:moveTo>
                    <a:pt x="381000" y="0"/>
                  </a:moveTo>
                  <a:lnTo>
                    <a:pt x="381000" y="6096000"/>
                  </a:lnTo>
                  <a:moveTo>
                    <a:pt x="762000" y="0"/>
                  </a:moveTo>
                  <a:lnTo>
                    <a:pt x="762000" y="6096000"/>
                  </a:lnTo>
                  <a:moveTo>
                    <a:pt x="1143000" y="0"/>
                  </a:moveTo>
                  <a:lnTo>
                    <a:pt x="1143000" y="6096000"/>
                  </a:lnTo>
                  <a:moveTo>
                    <a:pt x="1524000" y="0"/>
                  </a:moveTo>
                  <a:lnTo>
                    <a:pt x="1524000" y="6096000"/>
                  </a:lnTo>
                  <a:moveTo>
                    <a:pt x="1905000" y="0"/>
                  </a:moveTo>
                  <a:lnTo>
                    <a:pt x="1905000" y="6096000"/>
                  </a:lnTo>
                  <a:moveTo>
                    <a:pt x="2286000" y="0"/>
                  </a:moveTo>
                  <a:lnTo>
                    <a:pt x="2286000" y="6096000"/>
                  </a:lnTo>
                  <a:moveTo>
                    <a:pt x="2667000" y="0"/>
                  </a:moveTo>
                  <a:lnTo>
                    <a:pt x="2667000" y="6096000"/>
                  </a:lnTo>
                  <a:moveTo>
                    <a:pt x="3048000" y="0"/>
                  </a:moveTo>
                  <a:lnTo>
                    <a:pt x="3048000" y="6096000"/>
                  </a:lnTo>
                  <a:moveTo>
                    <a:pt x="3429000" y="0"/>
                  </a:moveTo>
                  <a:lnTo>
                    <a:pt x="3429000" y="6096000"/>
                  </a:lnTo>
                  <a:moveTo>
                    <a:pt x="3810000" y="0"/>
                  </a:moveTo>
                  <a:lnTo>
                    <a:pt x="3810000" y="6096000"/>
                  </a:lnTo>
                  <a:moveTo>
                    <a:pt x="4191000" y="0"/>
                  </a:moveTo>
                  <a:lnTo>
                    <a:pt x="4191000" y="6096000"/>
                  </a:lnTo>
                  <a:moveTo>
                    <a:pt x="4572000" y="0"/>
                  </a:moveTo>
                  <a:lnTo>
                    <a:pt x="4572000" y="6096000"/>
                  </a:lnTo>
                  <a:moveTo>
                    <a:pt x="4953000" y="0"/>
                  </a:moveTo>
                  <a:lnTo>
                    <a:pt x="4953000" y="6096000"/>
                  </a:lnTo>
                  <a:moveTo>
                    <a:pt x="5334000" y="0"/>
                  </a:moveTo>
                  <a:lnTo>
                    <a:pt x="5334000" y="6096000"/>
                  </a:lnTo>
                  <a:moveTo>
                    <a:pt x="5715000" y="0"/>
                  </a:moveTo>
                  <a:lnTo>
                    <a:pt x="5715000" y="6096000"/>
                  </a:lnTo>
                  <a:moveTo>
                    <a:pt x="6096000" y="0"/>
                  </a:moveTo>
                  <a:lnTo>
                    <a:pt x="6096000" y="6096000"/>
                  </a:lnTo>
                  <a:moveTo>
                    <a:pt x="6477000" y="0"/>
                  </a:moveTo>
                  <a:lnTo>
                    <a:pt x="6477000" y="6096000"/>
                  </a:lnTo>
                  <a:moveTo>
                    <a:pt x="6858000" y="0"/>
                  </a:moveTo>
                  <a:lnTo>
                    <a:pt x="6858000" y="6096000"/>
                  </a:lnTo>
                  <a:moveTo>
                    <a:pt x="7239000" y="0"/>
                  </a:moveTo>
                  <a:lnTo>
                    <a:pt x="7239000" y="6096000"/>
                  </a:lnTo>
                  <a:moveTo>
                    <a:pt x="7620000" y="0"/>
                  </a:moveTo>
                  <a:lnTo>
                    <a:pt x="7620000" y="6096000"/>
                  </a:lnTo>
                  <a:moveTo>
                    <a:pt x="8001000" y="0"/>
                  </a:moveTo>
                  <a:lnTo>
                    <a:pt x="8001000" y="6096000"/>
                  </a:lnTo>
                  <a:moveTo>
                    <a:pt x="8382000" y="0"/>
                  </a:moveTo>
                  <a:lnTo>
                    <a:pt x="8382000" y="6096000"/>
                  </a:lnTo>
                  <a:moveTo>
                    <a:pt x="8763000" y="0"/>
                  </a:moveTo>
                  <a:lnTo>
                    <a:pt x="8763000" y="6096000"/>
                  </a:lnTo>
                  <a:moveTo>
                    <a:pt x="9144000" y="0"/>
                  </a:moveTo>
                  <a:lnTo>
                    <a:pt x="9144000" y="6096000"/>
                  </a:lnTo>
                  <a:moveTo>
                    <a:pt x="9525000" y="0"/>
                  </a:moveTo>
                  <a:lnTo>
                    <a:pt x="9525000" y="6096000"/>
                  </a:lnTo>
                  <a:moveTo>
                    <a:pt x="9906000" y="0"/>
                  </a:moveTo>
                  <a:lnTo>
                    <a:pt x="9906000" y="6096000"/>
                  </a:lnTo>
                  <a:moveTo>
                    <a:pt x="10287000" y="0"/>
                  </a:moveTo>
                  <a:lnTo>
                    <a:pt x="10287000" y="6096000"/>
                  </a:lnTo>
                  <a:moveTo>
                    <a:pt x="10668000" y="0"/>
                  </a:moveTo>
                  <a:lnTo>
                    <a:pt x="10668000" y="6096000"/>
                  </a:lnTo>
                  <a:moveTo>
                    <a:pt x="11049000" y="0"/>
                  </a:moveTo>
                  <a:lnTo>
                    <a:pt x="11049000" y="6096000"/>
                  </a:lnTo>
                  <a:moveTo>
                    <a:pt x="11430000" y="0"/>
                  </a:moveTo>
                  <a:lnTo>
                    <a:pt x="11430000" y="6096000"/>
                  </a:lnTo>
                </a:path>
              </a:pathLst>
            </a:custGeom>
            <a:noFill/>
            <a:ln w="5715">
              <a:solidFill>
                <a:srgbClr val="5BA3C9">
                  <a:alpha val="18000"/>
                </a:srgbClr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381000" y="266700"/>
            <a:ext cx="11430000" cy="556451"/>
            <a:chOff x="381000" y="266700"/>
            <a:chExt cx="11430000" cy="556451"/>
          </a:xfrm>
        </p:grpSpPr>
        <p:sp>
          <p:nvSpPr>
            <p:cNvPr id="5" name="Rectangle 5"/>
            <p:cNvSpPr/>
            <p:nvPr/>
          </p:nvSpPr>
          <p:spPr>
            <a:xfrm>
              <a:off x="381000" y="266700"/>
              <a:ext cx="11430000" cy="514350"/>
            </a:xfrm>
            <a:prstGeom prst="rect">
              <a:avLst/>
            </a:prstGeom>
            <a:noFill/>
            <a:ln w="11430">
              <a:solidFill>
                <a:srgbClr val="7EB6D9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5524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7620">
              <a:solidFill>
                <a:srgbClr val="7EB6D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8638" y="387191"/>
              <a:ext cx="23769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112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DWG-AMAR-01 | TECH ARCHITECTURE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6542" y="559118"/>
              <a:ext cx="30760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F1F8"/>
                  </a:solidFill>
                  <a:latin typeface="Segoe UI"/>
                  <a:ea typeface="Microsoft YaHei"/>
                  <a:cs typeface="Segoe UI"/>
                </a:rPr>
                <a:t>AMAR Data Pipeline — 技术方案架构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81545" y="387191"/>
              <a:ext cx="5577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F0C14B"/>
                  </a:solidFill>
                  <a:latin typeface="Consolas"/>
                  <a:ea typeface="Consolas"/>
                  <a:cs typeface="Consolas"/>
                </a:rPr>
                <a:t>SCALE 1:1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64822" y="615791"/>
              <a:ext cx="5985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REV A | 1/1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81000" y="952500"/>
            <a:ext cx="3810000" cy="1905000"/>
            <a:chOff x="381000" y="952500"/>
            <a:chExt cx="38100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381000" y="952500"/>
              <a:ext cx="3810000" cy="1905000"/>
            </a:xfrm>
            <a:prstGeom prst="rect">
              <a:avLst/>
            </a:prstGeom>
            <a:solidFill>
              <a:srgbClr val="0D2438"/>
            </a:solidFill>
            <a:ln w="11430">
              <a:solidFill>
                <a:srgbClr val="4A90B8"/>
              </a:solidFill>
              <a:custDash>
                <a:ds d="333333" sp="250000"/>
              </a:custDash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90538" y="1053941"/>
              <a:ext cx="8840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75" dirty="0">
                  <a:solidFill>
                    <a:srgbClr val="F0C14B"/>
                  </a:solidFill>
                  <a:latin typeface="Consolas"/>
                  <a:ea typeface="Consolas"/>
                  <a:cs typeface="Consolas"/>
                </a:rPr>
                <a:t>1. EDGE / LAB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0538" y="1217295"/>
              <a:ext cx="7008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A3B8"/>
                  </a:solidFill>
                  <a:latin typeface="Segoe UI"/>
                  <a:ea typeface="Microsoft YaHei"/>
                  <a:cs typeface="Segoe UI"/>
                </a:rPr>
                <a:t>AMAR实验室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1428750"/>
              <a:ext cx="952500" cy="457200"/>
            </a:xfrm>
            <a:prstGeom prst="rect">
              <a:avLst/>
            </a:prstGeom>
            <a:noFill/>
            <a:ln w="9525">
              <a:solidFill>
                <a:srgbClr val="7EB6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4111" y="15301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E8F1F8"/>
                  </a:solidFill>
                  <a:latin typeface="Segoe UI"/>
                  <a:ea typeface="Microsoft YaHei"/>
                  <a:cs typeface="Segoe UI"/>
                </a:rPr>
                <a:t>测试终端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7431" y="1698784"/>
              <a:ext cx="54443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Modbus/USB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600200" y="1428750"/>
              <a:ext cx="952500" cy="457200"/>
            </a:xfrm>
            <a:prstGeom prst="rect">
              <a:avLst/>
            </a:prstGeom>
            <a:noFill/>
            <a:ln w="9525">
              <a:solidFill>
                <a:srgbClr val="7EB6D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850911" y="15301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E8F1F8"/>
                  </a:solidFill>
                  <a:latin typeface="Segoe UI"/>
                  <a:ea typeface="Microsoft YaHei"/>
                  <a:cs typeface="Segoe UI"/>
                </a:rPr>
                <a:t>测试终端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25346" y="1698784"/>
              <a:ext cx="50220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CSV/Binary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667000" y="1428750"/>
              <a:ext cx="571500" cy="457200"/>
            </a:xfrm>
            <a:prstGeom prst="rect">
              <a:avLst/>
            </a:prstGeom>
            <a:noFill/>
            <a:ln w="9525">
              <a:solidFill>
                <a:srgbClr val="7EB6D9"/>
              </a:solidFill>
              <a:custDash>
                <a:ds d="300000" sp="200000"/>
              </a:custDash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848032" y="159829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...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095500"/>
              <a:ext cx="1619250" cy="609600"/>
            </a:xfrm>
            <a:prstGeom prst="rect">
              <a:avLst/>
            </a:prstGeom>
            <a:noFill/>
            <a:ln w="13335">
              <a:solidFill>
                <a:srgbClr val="7EB6D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5368" y="22078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F1F8"/>
                  </a:solidFill>
                  <a:latin typeface="Segoe UI"/>
                  <a:ea typeface="Microsoft YaHei"/>
                  <a:cs typeface="Segoe UI"/>
                </a:rPr>
                <a:t>实验室电脑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9347" y="2384584"/>
              <a:ext cx="84735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Edge Agent Daemon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8713" y="2517934"/>
              <a:ext cx="66862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buffer + retry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343150" y="2095500"/>
              <a:ext cx="1619250" cy="609600"/>
            </a:xfrm>
            <a:prstGeom prst="rect">
              <a:avLst/>
            </a:prstGeom>
            <a:noFill/>
            <a:ln w="13335">
              <a:solidFill>
                <a:srgbClr val="7EB6D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855656" y="2207895"/>
              <a:ext cx="5942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E8F1F8"/>
                  </a:solidFill>
                  <a:latin typeface="Segoe UI"/>
                  <a:ea typeface="Segoe UI"/>
                  <a:cs typeface="Segoe UI"/>
                </a:rPr>
                <a:t>AMAR NAS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82882" y="2384584"/>
              <a:ext cx="73978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NFS / SMB Share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20056" y="2517934"/>
              <a:ext cx="86543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staging + checksum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1009650" y="18859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9525">
              <a:solidFill>
                <a:srgbClr val="7EB6D9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076450" y="18859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9525">
              <a:solidFill>
                <a:srgbClr val="7EB6D9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2152650" y="24003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1430">
              <a:solidFill>
                <a:srgbClr val="7EB6D9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243138" y="2278380"/>
              <a:ext cx="150343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" dirty="0">
                  <a:solidFill>
                    <a:srgbClr val="F0C14B"/>
                  </a:solidFill>
                  <a:latin typeface="Consolas"/>
                  <a:ea typeface="Consolas"/>
                  <a:cs typeface="Consolas"/>
                </a:rPr>
                <a:t>NFS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667250" y="952500"/>
            <a:ext cx="3429000" cy="1905000"/>
            <a:chOff x="4667250" y="952500"/>
            <a:chExt cx="3429000" cy="1905000"/>
          </a:xfrm>
        </p:grpSpPr>
        <p:sp>
          <p:nvSpPr>
            <p:cNvPr id="36" name="Rectangle 36"/>
            <p:cNvSpPr/>
            <p:nvPr/>
          </p:nvSpPr>
          <p:spPr>
            <a:xfrm>
              <a:off x="4667250" y="952500"/>
              <a:ext cx="3429000" cy="1905000"/>
            </a:xfrm>
            <a:prstGeom prst="rect">
              <a:avLst/>
            </a:prstGeom>
            <a:solidFill>
              <a:srgbClr val="0D2438"/>
            </a:solidFill>
            <a:ln w="11430">
              <a:solidFill>
                <a:srgbClr val="4A90B8"/>
              </a:solidFill>
              <a:custDash>
                <a:ds d="333333" sp="250000"/>
              </a:custDash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76788" y="1053941"/>
              <a:ext cx="17245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75" dirty="0">
                  <a:solidFill>
                    <a:srgbClr val="F0C14B"/>
                  </a:solidFill>
                  <a:latin typeface="Consolas"/>
                  <a:ea typeface="Consolas"/>
                  <a:cs typeface="Consolas"/>
                </a:rPr>
                <a:t>2. SYNC + OBJECT STORAGE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76788" y="1217295"/>
              <a:ext cx="6944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A3B8"/>
                  </a:solidFill>
                  <a:latin typeface="Segoe UI"/>
                  <a:ea typeface="Microsoft YaHei"/>
                  <a:cs typeface="Segoe UI"/>
                </a:rPr>
                <a:t>智算 Bucket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857750" y="1476375"/>
              <a:ext cx="1428750" cy="1143000"/>
            </a:xfrm>
            <a:prstGeom prst="rect">
              <a:avLst/>
            </a:prstGeom>
            <a:noFill/>
            <a:ln w="13335">
              <a:solidFill>
                <a:srgbClr val="7EB6D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146443" y="1598295"/>
              <a:ext cx="8513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E8F1F8"/>
                  </a:solidFill>
                  <a:latin typeface="Segoe UI"/>
                  <a:ea typeface="Segoe UI"/>
                  <a:cs typeface="Segoe UI"/>
                </a:rPr>
                <a:t>Sync Gateway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85176" y="1813084"/>
              <a:ext cx="77389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rclone / uploader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384279" y="1965484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F0C14B"/>
                  </a:solidFill>
                  <a:latin typeface="Consolas"/>
                  <a:ea typeface="Microsoft YaHei"/>
                  <a:cs typeface="Consolas"/>
                </a:rPr>
                <a:t>断点续传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96538" y="2117884"/>
              <a:ext cx="55117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F0C14B"/>
                  </a:solidFill>
                  <a:latin typeface="Consolas"/>
                  <a:ea typeface="Microsoft YaHei"/>
                  <a:cs typeface="Consolas"/>
                </a:rPr>
                <a:t>SHA256 去重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70284" y="2270284"/>
              <a:ext cx="6036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Daily CronJob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359105" y="2422684"/>
              <a:ext cx="42603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8BA3B8"/>
                  </a:solidFill>
                  <a:latin typeface="Consolas"/>
                  <a:ea typeface="Microsoft YaHei"/>
                  <a:cs typeface="Consolas"/>
                </a:rPr>
                <a:t>存量+增量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6286500" y="2047875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3335">
              <a:solidFill>
                <a:srgbClr val="F0C14B"/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6457950" y="20002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1143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0C14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10338" y="1887855"/>
              <a:ext cx="269824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" dirty="0">
                  <a:solidFill>
                    <a:srgbClr val="F0C14B"/>
                  </a:solidFill>
                  <a:latin typeface="Consolas"/>
                  <a:ea typeface="Consolas"/>
                  <a:cs typeface="Consolas"/>
                </a:rPr>
                <a:t>S3 PUT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48450" y="1476375"/>
              <a:ext cx="1276350" cy="1143000"/>
            </a:xfrm>
            <a:prstGeom prst="rect">
              <a:avLst/>
            </a:prstGeom>
            <a:noFill/>
            <a:ln w="13335">
              <a:solidFill>
                <a:srgbClr val="7EB6D9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89413" y="1598295"/>
              <a:ext cx="7944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E8F1F8"/>
                  </a:solidFill>
                  <a:latin typeface="Segoe UI"/>
                  <a:ea typeface="Segoe UI"/>
                  <a:cs typeface="Segoe UI"/>
                </a:rPr>
                <a:t>AMAR Bucket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83580" y="1813084"/>
              <a:ext cx="40609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S3 / OSS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76791" y="1965484"/>
              <a:ext cx="81966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/raw/yyyy/mm/dd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14103" y="2117884"/>
              <a:ext cx="54504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landing zone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53008" y="2270284"/>
              <a:ext cx="46723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versioning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89625" y="2422684"/>
              <a:ext cx="39400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lifecycle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381000" y="3333750"/>
            <a:ext cx="7715250" cy="1524000"/>
            <a:chOff x="381000" y="3333750"/>
            <a:chExt cx="7715250" cy="1524000"/>
          </a:xfrm>
        </p:grpSpPr>
        <p:sp>
          <p:nvSpPr>
            <p:cNvPr id="57" name="Rectangle 57"/>
            <p:cNvSpPr/>
            <p:nvPr/>
          </p:nvSpPr>
          <p:spPr>
            <a:xfrm>
              <a:off x="381000" y="3333750"/>
              <a:ext cx="7715250" cy="1524000"/>
            </a:xfrm>
            <a:prstGeom prst="rect">
              <a:avLst/>
            </a:prstGeom>
            <a:solidFill>
              <a:srgbClr val="0D2438"/>
            </a:solidFill>
            <a:ln w="11430">
              <a:solidFill>
                <a:srgbClr val="4A90B8"/>
              </a:solidFill>
              <a:custDash>
                <a:ds d="333333" sp="250000"/>
              </a:custDash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90538" y="3435191"/>
              <a:ext cx="22062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75" dirty="0">
                  <a:solidFill>
                    <a:srgbClr val="F0C14B"/>
                  </a:solidFill>
                  <a:latin typeface="Consolas"/>
                  <a:ea typeface="Consolas"/>
                  <a:cs typeface="Consolas"/>
                </a:rPr>
                <a:t>3. K8S ETL CLUSTER | ns: amar-etl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3714750"/>
              <a:ext cx="1714500" cy="952500"/>
            </a:xfrm>
            <a:prstGeom prst="rect">
              <a:avLst/>
            </a:prstGeom>
            <a:noFill/>
            <a:ln w="13335">
              <a:solidFill>
                <a:srgbClr val="7EB6D9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51313" y="3827145"/>
              <a:ext cx="8786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E8F1F8"/>
                  </a:solidFill>
                  <a:latin typeface="Segoe UI"/>
                  <a:ea typeface="Segoe UI"/>
                  <a:cs typeface="Segoe UI"/>
                </a:rPr>
                <a:t>Orchestrator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6819" y="4022884"/>
              <a:ext cx="6476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Airflow / Argo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02375" y="4175284"/>
              <a:ext cx="5765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DAG schedule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0859" y="4327684"/>
              <a:ext cx="81958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ConfigMap/Secret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3517" y="4480084"/>
              <a:ext cx="53426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Prometheus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2247900" y="41910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1430">
              <a:solidFill>
                <a:srgbClr val="F0C14B"/>
              </a:solidFill>
            </a:ln>
          </p:spPr>
        </p:sp>
        <p:sp>
          <p:nvSpPr>
            <p:cNvPr id="66" name="Polygon 66"/>
            <p:cNvSpPr/>
            <p:nvPr/>
          </p:nvSpPr>
          <p:spPr>
            <a:xfrm>
              <a:off x="2419350" y="4143375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1143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0C14B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2609850" y="3714750"/>
              <a:ext cx="1905000" cy="952500"/>
            </a:xfrm>
            <a:prstGeom prst="rect">
              <a:avLst/>
            </a:prstGeom>
            <a:noFill/>
            <a:ln w="13335">
              <a:solidFill>
                <a:srgbClr val="7EB6D9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146656" y="3827145"/>
              <a:ext cx="8313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E8F1F8"/>
                  </a:solidFill>
                  <a:latin typeface="Segoe UI"/>
                  <a:ea typeface="Segoe UI"/>
                  <a:cs typeface="Segoe UI"/>
                </a:rPr>
                <a:t>Cleaning Pods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287108" y="4022884"/>
              <a:ext cx="55048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F0C14B"/>
                  </a:solidFill>
                  <a:latin typeface="Consolas"/>
                  <a:ea typeface="Consolas"/>
                  <a:cs typeface="Consolas"/>
                </a:rPr>
                <a:t>K8s CronJob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224646" y="4175284"/>
              <a:ext cx="6754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Spark / Python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170824" y="4327684"/>
              <a:ext cx="78305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schema + anomaly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171429" y="4480084"/>
              <a:ext cx="78184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-&gt; Parquet / ORC</a:t>
              </a:r>
            </a:p>
          </p:txBody>
        </p:sp>
        <p:sp>
          <p:nvSpPr>
            <p:cNvPr id="73" name="Freeform 73"/>
            <p:cNvSpPr/>
            <p:nvPr/>
          </p:nvSpPr>
          <p:spPr>
            <a:xfrm>
              <a:off x="4514850" y="41910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1430">
              <a:solidFill>
                <a:srgbClr val="F0C14B"/>
              </a:solidFill>
            </a:ln>
          </p:spPr>
        </p:sp>
        <p:sp>
          <p:nvSpPr>
            <p:cNvPr id="74" name="Polygon 74"/>
            <p:cNvSpPr/>
            <p:nvPr/>
          </p:nvSpPr>
          <p:spPr>
            <a:xfrm>
              <a:off x="4686300" y="4143375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1143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0C14B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4876800" y="3714750"/>
              <a:ext cx="1905000" cy="952500"/>
            </a:xfrm>
            <a:prstGeom prst="rect">
              <a:avLst/>
            </a:prstGeom>
            <a:noFill/>
            <a:ln w="13335">
              <a:solidFill>
                <a:srgbClr val="7EB6D9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378613" y="3827145"/>
              <a:ext cx="9013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E8F1F8"/>
                  </a:solidFill>
                  <a:latin typeface="Segoe UI"/>
                  <a:ea typeface="Segoe UI"/>
                  <a:cs typeface="Segoe UI"/>
                </a:rPr>
                <a:t>Ingestion Pods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656032" y="4022884"/>
              <a:ext cx="34653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F0C14B"/>
                  </a:solidFill>
                  <a:latin typeface="Consolas"/>
                  <a:ea typeface="Consolas"/>
                  <a:cs typeface="Consolas"/>
                </a:rPr>
                <a:t>K8s Job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436369" y="4175284"/>
              <a:ext cx="7858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Spark SQL / Flink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569072" y="4327684"/>
              <a:ext cx="52045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Hive upsert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504250" y="4480084"/>
              <a:ext cx="65010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DLQ on failure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953250" y="3714750"/>
              <a:ext cx="952500" cy="952500"/>
            </a:xfrm>
            <a:prstGeom prst="rect">
              <a:avLst/>
            </a:prstGeom>
            <a:noFill/>
            <a:ln w="9525">
              <a:solidFill>
                <a:srgbClr val="7EB6D9"/>
              </a:solidFill>
              <a:custDash>
                <a:ds d="300000" sp="200000"/>
              </a:custDash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336726" y="4014788"/>
              <a:ext cx="18554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HPA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36726" y="4186238"/>
              <a:ext cx="18554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PVC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274128" y="4357688"/>
              <a:ext cx="31074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Quota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382000" y="952500"/>
            <a:ext cx="3429000" cy="1905000"/>
            <a:chOff x="8382000" y="952500"/>
            <a:chExt cx="3429000" cy="1905000"/>
          </a:xfrm>
        </p:grpSpPr>
        <p:sp>
          <p:nvSpPr>
            <p:cNvPr id="86" name="Rectangle 86"/>
            <p:cNvSpPr/>
            <p:nvPr/>
          </p:nvSpPr>
          <p:spPr>
            <a:xfrm>
              <a:off x="8382000" y="952500"/>
              <a:ext cx="3429000" cy="1905000"/>
            </a:xfrm>
            <a:prstGeom prst="rect">
              <a:avLst/>
            </a:prstGeom>
            <a:solidFill>
              <a:srgbClr val="0D2438"/>
            </a:solidFill>
            <a:ln w="11430">
              <a:solidFill>
                <a:srgbClr val="F0C14B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529638" y="1092041"/>
              <a:ext cx="12989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75" dirty="0">
                  <a:solidFill>
                    <a:srgbClr val="F0C14B"/>
                  </a:solidFill>
                  <a:latin typeface="Consolas"/>
                  <a:ea typeface="Consolas"/>
                  <a:cs typeface="Consolas"/>
                </a:rPr>
                <a:t>ANNOTATION | NOTES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529638" y="1350645"/>
              <a:ext cx="14394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E8F1F8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E8F1F8"/>
                  </a:solidFill>
                  <a:latin typeface="Segoe UI"/>
                  <a:ea typeface="Microsoft YaHei"/>
                  <a:cs typeface="Segoe UI"/>
                </a:rPr>
                <a:t>存量数据：全量同步一次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529638" y="1560195"/>
              <a:ext cx="15565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E8F1F8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E8F1F8"/>
                  </a:solidFill>
                  <a:latin typeface="Segoe UI"/>
                  <a:ea typeface="Microsoft YaHei"/>
                  <a:cs typeface="Segoe UI"/>
                </a:rPr>
                <a:t>增量数据：每日 Cron 更新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529638" y="1769745"/>
              <a:ext cx="16954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E8F1F8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E8F1F8"/>
                  </a:solidFill>
                  <a:latin typeface="Segoe UI"/>
                  <a:ea typeface="Microsoft YaHei"/>
                  <a:cs typeface="Segoe UI"/>
                </a:rPr>
                <a:t>断点续传：multipart / ETag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529638" y="1979295"/>
              <a:ext cx="15121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E8F1F8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E8F1F8"/>
                  </a:solidFill>
                  <a:latin typeface="Segoe UI"/>
                  <a:ea typeface="Microsoft YaHei"/>
                  <a:cs typeface="Segoe UI"/>
                </a:rPr>
                <a:t>重复检测：content-hash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529638" y="2281238"/>
              <a:ext cx="1719262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750" dirty="0">
                  <a:solidFill>
                    <a:srgbClr val="8BA3B8"/>
                  </a:solidFill>
                  <a:latin typeface="Consolas"/>
                  <a:ea typeface="Microsoft YaHei"/>
                  <a:cs typeface="Consolas"/>
                </a:rPr>
                <a:t>脚本 → Pod · 清洗=CronJob · 入库=Job</a:t>
              </a:r>
              <a:br/>
              <a:r>
                <a:rPr lang="en-US" sz="75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Namespaces: edge-sync / etl / agent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381000" y="5238750"/>
            <a:ext cx="5715000" cy="1333500"/>
            <a:chOff x="381000" y="5238750"/>
            <a:chExt cx="5715000" cy="1333500"/>
          </a:xfrm>
        </p:grpSpPr>
        <p:sp>
          <p:nvSpPr>
            <p:cNvPr id="94" name="Rectangle 94"/>
            <p:cNvSpPr/>
            <p:nvPr/>
          </p:nvSpPr>
          <p:spPr>
            <a:xfrm>
              <a:off x="381000" y="5238750"/>
              <a:ext cx="5715000" cy="1333500"/>
            </a:xfrm>
            <a:prstGeom prst="rect">
              <a:avLst/>
            </a:prstGeom>
            <a:solidFill>
              <a:srgbClr val="0D2438"/>
            </a:solidFill>
            <a:ln w="11430">
              <a:solidFill>
                <a:srgbClr val="4A90B8"/>
              </a:solidFill>
              <a:custDash>
                <a:ds d="333333" sp="250000"/>
              </a:custDash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490538" y="5340191"/>
              <a:ext cx="15515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75" dirty="0">
                  <a:solidFill>
                    <a:srgbClr val="F0C14B"/>
                  </a:solidFill>
                  <a:latin typeface="Consolas"/>
                  <a:ea typeface="Consolas"/>
                  <a:cs typeface="Consolas"/>
                </a:rPr>
                <a:t>4. LAKEHOUSE + SERVING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533400" y="5600700"/>
              <a:ext cx="1619250" cy="800100"/>
            </a:xfrm>
            <a:prstGeom prst="rect">
              <a:avLst/>
            </a:prstGeom>
            <a:noFill/>
            <a:ln w="13335">
              <a:solidFill>
                <a:srgbClr val="7EB6D9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907703" y="5732145"/>
              <a:ext cx="8706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E8F1F8"/>
                  </a:solidFill>
                  <a:latin typeface="Segoe UI"/>
                  <a:ea typeface="Segoe UI"/>
                  <a:cs typeface="Segoe UI"/>
                </a:rPr>
                <a:t>Hive / Iceberg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63460" y="5927884"/>
              <a:ext cx="75913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ODS-&gt;DWD-&gt;DWS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55381" y="6080284"/>
              <a:ext cx="9752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partition date/device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016882" y="6232684"/>
              <a:ext cx="65228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Trino / Presto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2343150" y="5600700"/>
              <a:ext cx="1619250" cy="800100"/>
            </a:xfrm>
            <a:prstGeom prst="rect">
              <a:avLst/>
            </a:prstGeom>
            <a:noFill/>
            <a:ln w="13335">
              <a:solidFill>
                <a:srgbClr val="7EB6D9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2893924" y="5732145"/>
              <a:ext cx="5177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E8F1F8"/>
                  </a:solidFill>
                  <a:latin typeface="Segoe UI"/>
                  <a:ea typeface="Segoe UI"/>
                  <a:cs typeface="Segoe UI"/>
                </a:rPr>
                <a:t>Cloud DB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2676487" y="5927884"/>
              <a:ext cx="95257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PostgreSQL / MySQL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2708613" y="6080284"/>
              <a:ext cx="88832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feature / metadata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2880253" y="6232684"/>
              <a:ext cx="54504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read replica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4152900" y="5600700"/>
              <a:ext cx="1714500" cy="800100"/>
            </a:xfrm>
            <a:prstGeom prst="rect">
              <a:avLst/>
            </a:prstGeom>
            <a:noFill/>
            <a:ln w="13335">
              <a:solidFill>
                <a:srgbClr val="7EB6D9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4593688" y="5732145"/>
              <a:ext cx="8329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E8F1F8"/>
                  </a:solidFill>
                  <a:latin typeface="Segoe UI"/>
                  <a:ea typeface="Segoe UI"/>
                  <a:cs typeface="Segoe UI"/>
                </a:rPr>
                <a:t>Cache / Index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4685780" y="5927884"/>
              <a:ext cx="64874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Redis hot path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4699686" y="6080284"/>
              <a:ext cx="62092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Elasticsearch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4586585" y="6232684"/>
              <a:ext cx="84713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vector index (opt)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6477000" y="5238750"/>
            <a:ext cx="5334000" cy="1333500"/>
            <a:chOff x="6477000" y="5238750"/>
            <a:chExt cx="5334000" cy="1333500"/>
          </a:xfrm>
        </p:grpSpPr>
        <p:sp>
          <p:nvSpPr>
            <p:cNvPr id="112" name="Rectangle 112"/>
            <p:cNvSpPr/>
            <p:nvPr/>
          </p:nvSpPr>
          <p:spPr>
            <a:xfrm>
              <a:off x="6477000" y="5238750"/>
              <a:ext cx="5334000" cy="1333500"/>
            </a:xfrm>
            <a:prstGeom prst="rect">
              <a:avLst/>
            </a:prstGeom>
            <a:solidFill>
              <a:srgbClr val="0D2438"/>
            </a:solidFill>
            <a:ln w="11430">
              <a:solidFill>
                <a:srgbClr val="4A90B8"/>
              </a:solidFill>
              <a:custDash>
                <a:ds d="333333" sp="250000"/>
              </a:custDash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586538" y="5340191"/>
              <a:ext cx="23780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75" dirty="0">
                  <a:solidFill>
                    <a:srgbClr val="F0C14B"/>
                  </a:solidFill>
                  <a:latin typeface="Consolas"/>
                  <a:ea typeface="Consolas"/>
                  <a:cs typeface="Consolas"/>
                </a:rPr>
                <a:t>5. AGENT PLATFORM | ns: amar-agent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6667500" y="5600700"/>
              <a:ext cx="1238250" cy="800100"/>
            </a:xfrm>
            <a:prstGeom prst="rect">
              <a:avLst/>
            </a:prstGeom>
            <a:noFill/>
            <a:ln w="13335">
              <a:solidFill>
                <a:srgbClr val="7EB6D9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907836" y="5789295"/>
              <a:ext cx="7575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E8F1F8"/>
                  </a:solidFill>
                  <a:latin typeface="Segoe UI"/>
                  <a:ea typeface="Segoe UI"/>
                  <a:cs typeface="Segoe UI"/>
                </a:rPr>
                <a:t>API Gateway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6988227" y="6004084"/>
              <a:ext cx="59679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Ingress/Kong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072418" y="6156484"/>
              <a:ext cx="4284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Auth + RL</a:t>
              </a:r>
            </a:p>
          </p:txBody>
        </p:sp>
        <p:sp>
          <p:nvSpPr>
            <p:cNvPr id="118" name="Freeform 118"/>
            <p:cNvSpPr/>
            <p:nvPr/>
          </p:nvSpPr>
          <p:spPr>
            <a:xfrm>
              <a:off x="7905750" y="600075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1430">
              <a:solidFill>
                <a:srgbClr val="F0C14B"/>
              </a:solidFill>
            </a:ln>
          </p:spPr>
        </p:sp>
        <p:sp>
          <p:nvSpPr>
            <p:cNvPr id="119" name="Polygon 119"/>
            <p:cNvSpPr/>
            <p:nvPr/>
          </p:nvSpPr>
          <p:spPr>
            <a:xfrm>
              <a:off x="8077200" y="5953125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1143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0C14B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8267700" y="5600700"/>
              <a:ext cx="2095500" cy="800100"/>
            </a:xfrm>
            <a:prstGeom prst="rect">
              <a:avLst/>
            </a:prstGeom>
            <a:noFill/>
            <a:ln w="15240">
              <a:solidFill>
                <a:srgbClr val="F0C14B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8870863" y="5732145"/>
              <a:ext cx="8891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E8F1F8"/>
                  </a:solidFill>
                  <a:latin typeface="Segoe UI"/>
                  <a:ea typeface="Segoe UI"/>
                  <a:cs typeface="Segoe UI"/>
                </a:rPr>
                <a:t>Agent Runtime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8835017" y="5927884"/>
              <a:ext cx="96086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F0C14B"/>
                  </a:solidFill>
                  <a:latin typeface="Consolas"/>
                  <a:ea typeface="Consolas"/>
                  <a:cs typeface="Consolas"/>
                </a:rPr>
                <a:t>K8s Deployment + HPA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8803941" y="6080284"/>
              <a:ext cx="102301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RAG / Tool-calling Pods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8943991" y="6232684"/>
              <a:ext cx="74291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Hive + PG + Redis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10553700" y="5600700"/>
              <a:ext cx="1066800" cy="800100"/>
            </a:xfrm>
            <a:prstGeom prst="rect">
              <a:avLst/>
            </a:prstGeom>
            <a:noFill/>
            <a:ln w="9525">
              <a:solidFill>
                <a:srgbClr val="7EB6D9"/>
              </a:solidFill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10973100" y="5797391"/>
              <a:ext cx="2280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E8F1F8"/>
                  </a:solidFill>
                  <a:latin typeface="Segoe UI"/>
                  <a:ea typeface="Segoe UI"/>
                  <a:cs typeface="Segoe UI"/>
                </a:rPr>
                <a:t>Obs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0843282" y="6004084"/>
              <a:ext cx="48763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Prom+Graf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0981145" y="6156484"/>
              <a:ext cx="21191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8BA3B8"/>
                  </a:solidFill>
                  <a:latin typeface="Consolas"/>
                  <a:ea typeface="Consolas"/>
                  <a:cs typeface="Consolas"/>
                </a:rPr>
                <a:t>OTel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4143375" y="2333625"/>
            <a:ext cx="4313187" cy="3619500"/>
            <a:chOff x="4143375" y="2333625"/>
            <a:chExt cx="4313187" cy="3619500"/>
          </a:xfrm>
        </p:grpSpPr>
        <p:sp>
          <p:nvSpPr>
            <p:cNvPr id="130" name="Freeform 130"/>
            <p:cNvSpPr/>
            <p:nvPr/>
          </p:nvSpPr>
          <p:spPr>
            <a:xfrm>
              <a:off x="4191000" y="23812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5240">
              <a:solidFill>
                <a:srgbClr val="F0C14B"/>
              </a:solidFill>
            </a:ln>
          </p:spPr>
        </p:sp>
        <p:sp>
          <p:nvSpPr>
            <p:cNvPr id="131" name="Polygon 131"/>
            <p:cNvSpPr/>
            <p:nvPr/>
          </p:nvSpPr>
          <p:spPr>
            <a:xfrm>
              <a:off x="4476750" y="2333625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1143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0C14B"/>
            </a:solidFill>
            <a:ln>
              <a:noFill/>
            </a:ln>
          </p:spPr>
        </p:sp>
        <p:sp>
          <p:nvSpPr>
            <p:cNvPr id="132" name="Freeform 132"/>
            <p:cNvSpPr/>
            <p:nvPr/>
          </p:nvSpPr>
          <p:spPr>
            <a:xfrm>
              <a:off x="8096250" y="2857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5240">
              <a:solidFill>
                <a:srgbClr val="F0C14B"/>
              </a:solidFill>
            </a:ln>
          </p:spPr>
        </p:sp>
        <p:sp>
          <p:nvSpPr>
            <p:cNvPr id="133" name="Polygon 133"/>
            <p:cNvSpPr/>
            <p:nvPr/>
          </p:nvSpPr>
          <p:spPr>
            <a:xfrm>
              <a:off x="8048625" y="31432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47625" y="11430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0C14B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8186738" y="3030855"/>
              <a:ext cx="269824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" dirty="0">
                  <a:solidFill>
                    <a:srgbClr val="F0C14B"/>
                  </a:solidFill>
                  <a:latin typeface="Consolas"/>
                  <a:ea typeface="Consolas"/>
                  <a:cs typeface="Consolas"/>
                </a:rPr>
                <a:t>S3 GET</a:t>
              </a:r>
            </a:p>
          </p:txBody>
        </p:sp>
        <p:sp>
          <p:nvSpPr>
            <p:cNvPr id="135" name="Freeform 135"/>
            <p:cNvSpPr/>
            <p:nvPr/>
          </p:nvSpPr>
          <p:spPr>
            <a:xfrm>
              <a:off x="4191000" y="48577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5240">
              <a:solidFill>
                <a:srgbClr val="F0C14B"/>
              </a:solidFill>
            </a:ln>
          </p:spPr>
        </p:sp>
        <p:sp>
          <p:nvSpPr>
            <p:cNvPr id="136" name="Polygon 136"/>
            <p:cNvSpPr/>
            <p:nvPr/>
          </p:nvSpPr>
          <p:spPr>
            <a:xfrm>
              <a:off x="4143375" y="50482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47625" y="11430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0C14B"/>
            </a:solidFill>
            <a:ln>
              <a:noFill/>
            </a:ln>
          </p:spPr>
        </p:sp>
        <p:sp>
          <p:nvSpPr>
            <p:cNvPr id="137" name="Freeform 137"/>
            <p:cNvSpPr/>
            <p:nvPr/>
          </p:nvSpPr>
          <p:spPr>
            <a:xfrm>
              <a:off x="6096000" y="59055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15240">
              <a:solidFill>
                <a:srgbClr val="F0C14B"/>
              </a:solidFill>
            </a:ln>
          </p:spPr>
        </p:sp>
        <p:sp>
          <p:nvSpPr>
            <p:cNvPr id="138" name="Polygon 138"/>
            <p:cNvSpPr/>
            <p:nvPr/>
          </p:nvSpPr>
          <p:spPr>
            <a:xfrm>
              <a:off x="6305550" y="5857875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1143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0C14B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mar-tech-arch">
  <a:themeElements>
    <a:clrScheme name="amar-tech-arch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mar-tech-arch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mar-tech-ar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2026-08-27T03:15:36Z</dcterms:created>
  <dcterms:modified xsi:type="dcterms:W3CDTF">2026-08-27T03:15:36Z</dcterms:modified>
  <cp:category/>
  <cp:contentStatus/>
</cp:coreProperties>
</file>